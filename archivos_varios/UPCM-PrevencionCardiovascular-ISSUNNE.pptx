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bin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Unbounded" panose="020B0604020202020204" charset="0"/>
      <p:regular r:id="rId18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58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48" y="1804848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Proyecto SCORE2 – Prevención Cardiovascular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</a:rPr>
              <a:t>UPCM - ISSUNNE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515874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Implementación Excel + Motor Offline + App de Escritorio en ISSUNNE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89854"/>
            <a:ext cx="1538407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313" y="1819037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1761649"/>
            <a:ext cx="96404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CONTEXTO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235398"/>
            <a:ext cx="1094458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Contexto y Objetivo del Proyecto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837724" y="3298388"/>
            <a:ext cx="4158734" cy="3241238"/>
          </a:xfrm>
          <a:prstGeom prst="roundRect">
            <a:avLst>
              <a:gd name="adj" fmla="val 1108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1077039" y="3537704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Independencia Tecnológica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7039" y="4385191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Necesidad institucional de evaluar el riesgo cardiovascular sin dependencia de conexión a internet, garantizando continuidad asistencial.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235773" y="3298388"/>
            <a:ext cx="4158734" cy="3241238"/>
          </a:xfrm>
          <a:prstGeom prst="roundRect">
            <a:avLst>
              <a:gd name="adj" fmla="val 1108"/>
            </a:avLst>
          </a:pr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5475089" y="35377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Guías ESC 2021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75089" y="4033242"/>
            <a:ext cx="36801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Implementación de las guías europeas más actualizadas: SCORE2 para adultos y SCORE2-OP para personas mayores.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9633823" y="3298388"/>
            <a:ext cx="4158853" cy="3241238"/>
          </a:xfrm>
          <a:prstGeom prst="roundRect">
            <a:avLst>
              <a:gd name="adj" fmla="val 110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9873139" y="3537704"/>
            <a:ext cx="36802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Trabajo Multidisciplinario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73139" y="4385191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Unificación del flujo de trabajo entre personal administrativo, de enfermería y médico en un sistema integrado.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13673"/>
            <a:ext cx="2315051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893088"/>
            <a:ext cx="201263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PROCESO ASISTENCIAL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374458"/>
            <a:ext cx="800540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Flujo General de Trabajo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706648"/>
            <a:ext cx="5508546" cy="269259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8137" y="3339496"/>
            <a:ext cx="199766" cy="1997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9588" y="3637807"/>
            <a:ext cx="1314441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Enfermería: Triage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7107" y="3739028"/>
            <a:ext cx="199765" cy="1997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26137" y="2945940"/>
            <a:ext cx="1854968" cy="30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Administrativo: Seguimiento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40316" y="4578044"/>
            <a:ext cx="199766" cy="1997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25317" y="4288473"/>
            <a:ext cx="172342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Médico: Evalúa SCORE2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61436" y="4201343"/>
            <a:ext cx="199766" cy="19976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920397" y="4665147"/>
            <a:ext cx="1208583" cy="15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Decisión clínica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837724" y="5417285"/>
            <a:ext cx="550854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Este flujo optimiza la atención cardiovascular mediante roles claramente definidos, asegurando que cada profesional contribuya en su área de competencia específica.</a:t>
            </a:r>
            <a:endParaRPr lang="en-US" sz="1850" dirty="0"/>
          </a:p>
        </p:txBody>
      </p:sp>
      <p:sp>
        <p:nvSpPr>
          <p:cNvPr id="15" name="Shape 8"/>
          <p:cNvSpPr/>
          <p:nvPr/>
        </p:nvSpPr>
        <p:spPr>
          <a:xfrm>
            <a:off x="6765488" y="2437448"/>
            <a:ext cx="7206972" cy="4978479"/>
          </a:xfrm>
          <a:prstGeom prst="roundRect">
            <a:avLst>
              <a:gd name="adj" fmla="val 721"/>
            </a:avLst>
          </a:prstGeom>
          <a:solidFill>
            <a:srgbClr val="0A988B"/>
          </a:solidFill>
          <a:ln/>
        </p:spPr>
      </p:sp>
      <p:sp>
        <p:nvSpPr>
          <p:cNvPr id="16" name="Text 9"/>
          <p:cNvSpPr/>
          <p:nvPr/>
        </p:nvSpPr>
        <p:spPr>
          <a:xfrm>
            <a:off x="7004804" y="2676763"/>
            <a:ext cx="491609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Beneficios del Flujo Integrado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004804" y="3268028"/>
            <a:ext cx="6728341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Reducción de tiempos de espera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Mayor calidad en la evaluación inicial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Trazabilidad completa del paciente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Optimización de recursos humanos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12996"/>
            <a:ext cx="12301180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Planilla: Triage y Evaluación Básica de Enfermería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977509"/>
            <a:ext cx="658332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Archivo: Triage_y_Evaluacion_Basica_Enfermeria.xlsx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7724" y="2376011"/>
            <a:ext cx="7597735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Esta planilla constituye el primer punto de contacto con el paciente y recoge los datos clínicos iniciales esenciales para la evaluación cardiovascular.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7724" y="3030141"/>
            <a:ext cx="7597735" cy="1054418"/>
          </a:xfrm>
          <a:prstGeom prst="roundRect">
            <a:avLst>
              <a:gd name="adj" fmla="val 10406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864" y="3030141"/>
            <a:ext cx="91440" cy="1054418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</p:sp>
      <p:sp>
        <p:nvSpPr>
          <p:cNvPr id="7" name="Text 5"/>
          <p:cNvSpPr/>
          <p:nvPr/>
        </p:nvSpPr>
        <p:spPr>
          <a:xfrm>
            <a:off x="1108591" y="3232428"/>
            <a:ext cx="286988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Datos Clínicos Iniciales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08591" y="3630930"/>
            <a:ext cx="712458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Registro estructurado de constantes vitales, antecedentes y factores de riesgo del paciente.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7724" y="4219099"/>
            <a:ext cx="7597735" cy="1305758"/>
          </a:xfrm>
          <a:prstGeom prst="roundRect">
            <a:avLst>
              <a:gd name="adj" fmla="val 8403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4864" y="4219099"/>
            <a:ext cx="91440" cy="1305758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</p:sp>
      <p:sp>
        <p:nvSpPr>
          <p:cNvPr id="11" name="Text 9"/>
          <p:cNvSpPr/>
          <p:nvPr/>
        </p:nvSpPr>
        <p:spPr>
          <a:xfrm>
            <a:off x="1108591" y="4421386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Insumo Principal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08591" y="4819888"/>
            <a:ext cx="7124581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Información base que el médico utilizará para realizar la evaluación SCORE2 y tomar decisiones clínicas.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7724" y="5659398"/>
            <a:ext cx="7597735" cy="1305758"/>
          </a:xfrm>
          <a:prstGeom prst="roundRect">
            <a:avLst>
              <a:gd name="adj" fmla="val 8403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864" y="5659398"/>
            <a:ext cx="91440" cy="1305758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</p:sp>
      <p:sp>
        <p:nvSpPr>
          <p:cNvPr id="15" name="Text 13"/>
          <p:cNvSpPr/>
          <p:nvPr/>
        </p:nvSpPr>
        <p:spPr>
          <a:xfrm>
            <a:off x="1108591" y="5861685"/>
            <a:ext cx="23457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Integración Futura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08591" y="6260187"/>
            <a:ext cx="7124581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Estructura preparada para futuras integraciones con sistemas de historia clínica electrónica institucionales.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991" y="1994416"/>
            <a:ext cx="3689390" cy="36893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5938"/>
            <a:ext cx="1078932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Planilla: Seguimiento Administrativo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78462"/>
            <a:ext cx="4379833" cy="4379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7446" y="1954173"/>
            <a:ext cx="755463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Archivo: Planilla_Seguimiento_UPCM_ISSUNNE.xlsx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37446" y="2464832"/>
            <a:ext cx="7562731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Herramienta diseñada para el control integral del proceso asistencial desde la perspectiva administrativa y de gestión.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237446" y="3337560"/>
            <a:ext cx="484703" cy="48470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6915983" y="3411617"/>
            <a:ext cx="2981682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Control de Estudios y Turnos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915983" y="4239101"/>
            <a:ext cx="2981682" cy="130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Gestión de solicitudes, fechas de realización y recepción de resultados de estudios complementarios.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0139958" y="3337560"/>
            <a:ext cx="484703" cy="48470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10818495" y="3411617"/>
            <a:ext cx="2981682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Seguimiento Longitudinal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818495" y="4239101"/>
            <a:ext cx="2981682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Registro cronológico de todas las interacciones y evolución del paciente a lo largo del tiempo.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37446" y="5936099"/>
            <a:ext cx="484703" cy="48470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6915983" y="6010156"/>
            <a:ext cx="283214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Apoyo a la Gestión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915983" y="6520815"/>
            <a:ext cx="6884194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Generación de indicadores y métricas para la toma de decisiones institucionales y mejora continua.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87003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Planilla SCORE2 (Pruebas Iniciales)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2296477"/>
            <a:ext cx="3500676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Archivo: SCORE2_PruebaFinal.xlsx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24124" y="3012758"/>
            <a:ext cx="3500676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Primer intento de implementación del cálculo SCORE2 directamente en formato Excel, que reveló limitaciones importantes pero sentó las bases del proyecto.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276761" y="2292787"/>
            <a:ext cx="45720" cy="1307306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10536793" y="2315647"/>
            <a:ext cx="318706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Cálculo Directo en Excel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36793" y="2750344"/>
            <a:ext cx="3263503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Intento de traducir las tablas de riesgo cardiovascular a fórmulas y funciones de hoja de cálculo.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276761" y="3860721"/>
            <a:ext cx="45720" cy="1864519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7"/>
          <p:cNvSpPr/>
          <p:nvPr/>
        </p:nvSpPr>
        <p:spPr>
          <a:xfrm>
            <a:off x="10536793" y="3883581"/>
            <a:ext cx="3263503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Limitaciones Identificadas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536793" y="4599861"/>
            <a:ext cx="3263503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Complejidad de las tablas SCORE2 resultó demasiado extensa para una implementación Excel práctica y confiable.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276761" y="5985867"/>
            <a:ext cx="45720" cy="1307306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3" name="Text 10"/>
          <p:cNvSpPr/>
          <p:nvPr/>
        </p:nvSpPr>
        <p:spPr>
          <a:xfrm>
            <a:off x="10536793" y="6008727"/>
            <a:ext cx="2369106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Punto de Inflexión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536793" y="6443424"/>
            <a:ext cx="3263503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Esta experiencia motivó el desarrollo de una solución más robusta: el motor offline dedicado.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799148"/>
            <a:ext cx="1210866" cy="391001"/>
          </a:xfrm>
          <a:prstGeom prst="roundRect">
            <a:avLst>
              <a:gd name="adj" fmla="val 6612"/>
            </a:avLst>
          </a:prstGeom>
          <a:solidFill>
            <a:srgbClr val="0548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907" y="908447"/>
            <a:ext cx="172283" cy="1722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72" y="863679"/>
            <a:ext cx="69413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DESAFÍO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37724" y="1267658"/>
            <a:ext cx="6299716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Problema Detectado</a:t>
            </a:r>
            <a:endParaRPr lang="en-US" sz="3950" dirty="0"/>
          </a:p>
        </p:txBody>
      </p:sp>
      <p:sp>
        <p:nvSpPr>
          <p:cNvPr id="6" name="Shape 3"/>
          <p:cNvSpPr/>
          <p:nvPr/>
        </p:nvSpPr>
        <p:spPr>
          <a:xfrm>
            <a:off x="837724" y="2192060"/>
            <a:ext cx="6380559" cy="2685931"/>
          </a:xfrm>
          <a:prstGeom prst="roundRect">
            <a:avLst>
              <a:gd name="adj" fmla="val 1203"/>
            </a:avLst>
          </a:prstGeom>
          <a:solidFill>
            <a:srgbClr val="304755"/>
          </a:solidFill>
          <a:ln/>
        </p:spPr>
      </p:sp>
      <p:sp>
        <p:nvSpPr>
          <p:cNvPr id="7" name="Shape 4"/>
          <p:cNvSpPr/>
          <p:nvPr/>
        </p:nvSpPr>
        <p:spPr>
          <a:xfrm>
            <a:off x="1053108" y="2407444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0A988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0868" y="2585085"/>
            <a:ext cx="290751" cy="2907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3108" y="3247549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Tablas Extensas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053108" y="3680698"/>
            <a:ext cx="5949791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Las tablas SCORE2 contienen miles de combinaciones de edad, sexo, colesterol, presión arterial y tabaquismo, imposibles de manejar manualmente.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7412117" y="2192060"/>
            <a:ext cx="6380559" cy="2685931"/>
          </a:xfrm>
          <a:prstGeom prst="roundRect">
            <a:avLst>
              <a:gd name="adj" fmla="val 1203"/>
            </a:avLst>
          </a:prstGeom>
          <a:solidFill>
            <a:srgbClr val="304755"/>
          </a:solidFill>
          <a:ln/>
        </p:spPr>
      </p:sp>
      <p:sp>
        <p:nvSpPr>
          <p:cNvPr id="12" name="Shape 8"/>
          <p:cNvSpPr/>
          <p:nvPr/>
        </p:nvSpPr>
        <p:spPr>
          <a:xfrm>
            <a:off x="7627501" y="2407444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0A988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05261" y="2585085"/>
            <a:ext cx="290751" cy="2907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27501" y="3247549"/>
            <a:ext cx="264616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Riesgo de Errores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627501" y="3680698"/>
            <a:ext cx="5949791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complejidad aumenta significativamente el riesgo de errores manuales en la consulta de tablas, con potenciales consecuencias clínicas.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837724" y="5071824"/>
            <a:ext cx="6380559" cy="2358628"/>
          </a:xfrm>
          <a:prstGeom prst="roundRect">
            <a:avLst>
              <a:gd name="adj" fmla="val 1370"/>
            </a:avLst>
          </a:prstGeom>
          <a:solidFill>
            <a:srgbClr val="304755"/>
          </a:solidFill>
          <a:ln/>
        </p:spPr>
      </p:sp>
      <p:sp>
        <p:nvSpPr>
          <p:cNvPr id="17" name="Shape 12"/>
          <p:cNvSpPr/>
          <p:nvPr/>
        </p:nvSpPr>
        <p:spPr>
          <a:xfrm>
            <a:off x="1053108" y="5287208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0A988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0868" y="5464850"/>
            <a:ext cx="290751" cy="2907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3108" y="6127313"/>
            <a:ext cx="2992279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Dependencia Online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053108" y="6560463"/>
            <a:ext cx="5949791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HeartScore oficial requiere conexión a internet constante, limitando su uso en consultorios sin conectividad fiable.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7412117" y="5071824"/>
            <a:ext cx="6380559" cy="2358628"/>
          </a:xfrm>
          <a:prstGeom prst="roundRect">
            <a:avLst>
              <a:gd name="adj" fmla="val 1370"/>
            </a:avLst>
          </a:prstGeom>
          <a:solidFill>
            <a:srgbClr val="304755"/>
          </a:solidFill>
          <a:ln/>
        </p:spPr>
      </p:sp>
      <p:sp>
        <p:nvSpPr>
          <p:cNvPr id="22" name="Shape 16"/>
          <p:cNvSpPr/>
          <p:nvPr/>
        </p:nvSpPr>
        <p:spPr>
          <a:xfrm>
            <a:off x="7627501" y="5287208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0A988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05261" y="5464850"/>
            <a:ext cx="290751" cy="2907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27501" y="6127313"/>
            <a:ext cx="253805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Exactitud Clínica</a:t>
            </a:r>
            <a:endParaRPr lang="en-US" sz="1950" dirty="0"/>
          </a:p>
        </p:txBody>
      </p:sp>
      <p:sp>
        <p:nvSpPr>
          <p:cNvPr id="25" name="Text 18"/>
          <p:cNvSpPr/>
          <p:nvPr/>
        </p:nvSpPr>
        <p:spPr>
          <a:xfrm>
            <a:off x="7627501" y="6560463"/>
            <a:ext cx="5949791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decisión terapéutica depende de cálculos precisos; cualquier imprecisión puede afectar el tratamiento del paciente.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621" y="692706"/>
            <a:ext cx="1189911" cy="327779"/>
          </a:xfrm>
          <a:prstGeom prst="roundRect">
            <a:avLst>
              <a:gd name="adj" fmla="val 6888"/>
            </a:avLst>
          </a:prstGeom>
          <a:solidFill>
            <a:srgbClr val="0548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492" y="781288"/>
            <a:ext cx="150495" cy="150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3234" y="749141"/>
            <a:ext cx="738426" cy="214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SOLUCIÓN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74621" y="1079540"/>
            <a:ext cx="11252002" cy="553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Solución Propuesta: Motor SCORE2 Offline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774621" y="2303026"/>
            <a:ext cx="3420189" cy="2457093"/>
          </a:xfrm>
          <a:prstGeom prst="roundRect">
            <a:avLst>
              <a:gd name="adj" fmla="val 4466"/>
            </a:avLst>
          </a:prstGeom>
          <a:solidFill>
            <a:srgbClr val="112836"/>
          </a:solidFill>
          <a:ln/>
        </p:spPr>
      </p:sp>
      <p:sp>
        <p:nvSpPr>
          <p:cNvPr id="7" name="Shape 4"/>
          <p:cNvSpPr/>
          <p:nvPr/>
        </p:nvSpPr>
        <p:spPr>
          <a:xfrm>
            <a:off x="774621" y="2280166"/>
            <a:ext cx="3420189" cy="91440"/>
          </a:xfrm>
          <a:prstGeom prst="roundRect">
            <a:avLst>
              <a:gd name="adj" fmla="val 30863"/>
            </a:avLst>
          </a:prstGeom>
          <a:solidFill>
            <a:srgbClr val="0A988B"/>
          </a:solidFill>
          <a:ln/>
        </p:spPr>
      </p:sp>
      <p:sp>
        <p:nvSpPr>
          <p:cNvPr id="8" name="Shape 5"/>
          <p:cNvSpPr/>
          <p:nvPr/>
        </p:nvSpPr>
        <p:spPr>
          <a:xfrm>
            <a:off x="2202537" y="2020848"/>
            <a:ext cx="564356" cy="564356"/>
          </a:xfrm>
          <a:prstGeom prst="roundRect">
            <a:avLst>
              <a:gd name="adj" fmla="val 162025"/>
            </a:avLst>
          </a:prstGeom>
          <a:solidFill>
            <a:srgbClr val="0A988B"/>
          </a:solidFill>
          <a:ln/>
        </p:spPr>
      </p:sp>
      <p:sp>
        <p:nvSpPr>
          <p:cNvPr id="9" name="Text 6"/>
          <p:cNvSpPr/>
          <p:nvPr/>
        </p:nvSpPr>
        <p:spPr>
          <a:xfrm>
            <a:off x="2371844" y="2161937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85599" y="2773323"/>
            <a:ext cx="2998232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Motor Offline Dedicado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5599" y="3474244"/>
            <a:ext cx="2998232" cy="107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Desarrollo de un motor de cálculo independiente que funciona sin conexión a internet, garantizando disponibilidad permanente.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342567" y="2303026"/>
            <a:ext cx="3420189" cy="2457093"/>
          </a:xfrm>
          <a:prstGeom prst="roundRect">
            <a:avLst>
              <a:gd name="adj" fmla="val 4466"/>
            </a:avLst>
          </a:prstGeom>
          <a:solidFill>
            <a:srgbClr val="112836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2567" y="2280166"/>
            <a:ext cx="3420189" cy="91440"/>
          </a:xfrm>
          <a:prstGeom prst="roundRect">
            <a:avLst>
              <a:gd name="adj" fmla="val 30863"/>
            </a:avLst>
          </a:prstGeom>
          <a:solidFill>
            <a:srgbClr val="0A988B"/>
          </a:solidFill>
          <a:ln/>
        </p:spPr>
      </p:sp>
      <p:sp>
        <p:nvSpPr>
          <p:cNvPr id="14" name="Shape 11"/>
          <p:cNvSpPr/>
          <p:nvPr/>
        </p:nvSpPr>
        <p:spPr>
          <a:xfrm>
            <a:off x="5770483" y="2020848"/>
            <a:ext cx="564356" cy="564356"/>
          </a:xfrm>
          <a:prstGeom prst="roundRect">
            <a:avLst>
              <a:gd name="adj" fmla="val 162025"/>
            </a:avLst>
          </a:prstGeom>
          <a:solidFill>
            <a:srgbClr val="0A988B"/>
          </a:solidFill>
          <a:ln/>
        </p:spPr>
      </p:sp>
      <p:sp>
        <p:nvSpPr>
          <p:cNvPr id="15" name="Text 12"/>
          <p:cNvSpPr/>
          <p:nvPr/>
        </p:nvSpPr>
        <p:spPr>
          <a:xfrm>
            <a:off x="5939790" y="2161937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553545" y="2773323"/>
            <a:ext cx="2998232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Adherencia a Guías ESC 2021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53545" y="3474244"/>
            <a:ext cx="2998232" cy="107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Implementación estricta basada en las tablas y algoritmos oficiales de las guías europeas de </a:t>
            </a:r>
            <a:r>
              <a:rPr lang="en-US" sz="14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prevención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cardiovascular.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74621" y="5190053"/>
            <a:ext cx="3420189" cy="2180511"/>
          </a:xfrm>
          <a:prstGeom prst="roundRect">
            <a:avLst>
              <a:gd name="adj" fmla="val 5032"/>
            </a:avLst>
          </a:prstGeom>
          <a:solidFill>
            <a:srgbClr val="112836"/>
          </a:solidFill>
          <a:ln/>
        </p:spPr>
      </p:sp>
      <p:sp>
        <p:nvSpPr>
          <p:cNvPr id="19" name="Shape 16"/>
          <p:cNvSpPr/>
          <p:nvPr/>
        </p:nvSpPr>
        <p:spPr>
          <a:xfrm>
            <a:off x="774621" y="5167193"/>
            <a:ext cx="3420189" cy="91440"/>
          </a:xfrm>
          <a:prstGeom prst="roundRect">
            <a:avLst>
              <a:gd name="adj" fmla="val 30863"/>
            </a:avLst>
          </a:prstGeom>
          <a:solidFill>
            <a:srgbClr val="0A988B"/>
          </a:solidFill>
          <a:ln/>
        </p:spPr>
      </p:sp>
      <p:sp>
        <p:nvSpPr>
          <p:cNvPr id="20" name="Shape 17"/>
          <p:cNvSpPr/>
          <p:nvPr/>
        </p:nvSpPr>
        <p:spPr>
          <a:xfrm>
            <a:off x="2202537" y="4907875"/>
            <a:ext cx="564356" cy="564356"/>
          </a:xfrm>
          <a:prstGeom prst="roundRect">
            <a:avLst>
              <a:gd name="adj" fmla="val 162025"/>
            </a:avLst>
          </a:prstGeom>
          <a:solidFill>
            <a:srgbClr val="0A988B"/>
          </a:solidFill>
          <a:ln/>
        </p:spPr>
      </p:sp>
      <p:sp>
        <p:nvSpPr>
          <p:cNvPr id="21" name="Text 18"/>
          <p:cNvSpPr/>
          <p:nvPr/>
        </p:nvSpPr>
        <p:spPr>
          <a:xfrm>
            <a:off x="2371844" y="504896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985599" y="5660350"/>
            <a:ext cx="231290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Alta Coincidencia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85599" y="6084689"/>
            <a:ext cx="2998232" cy="107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Resultados superiores al 99% de coincidencia con la herramienta oficial HeartScore en validaciones cruzadas.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342567" y="5190053"/>
            <a:ext cx="3420189" cy="2180511"/>
          </a:xfrm>
          <a:prstGeom prst="roundRect">
            <a:avLst>
              <a:gd name="adj" fmla="val 5032"/>
            </a:avLst>
          </a:prstGeom>
          <a:solidFill>
            <a:srgbClr val="112836"/>
          </a:solidFill>
          <a:ln/>
        </p:spPr>
      </p:sp>
      <p:sp>
        <p:nvSpPr>
          <p:cNvPr id="25" name="Shape 22"/>
          <p:cNvSpPr/>
          <p:nvPr/>
        </p:nvSpPr>
        <p:spPr>
          <a:xfrm>
            <a:off x="4342567" y="5167193"/>
            <a:ext cx="3420189" cy="91440"/>
          </a:xfrm>
          <a:prstGeom prst="roundRect">
            <a:avLst>
              <a:gd name="adj" fmla="val 30863"/>
            </a:avLst>
          </a:prstGeom>
          <a:solidFill>
            <a:srgbClr val="0A988B"/>
          </a:solidFill>
          <a:ln/>
        </p:spPr>
      </p:sp>
      <p:sp>
        <p:nvSpPr>
          <p:cNvPr id="26" name="Shape 23"/>
          <p:cNvSpPr/>
          <p:nvPr/>
        </p:nvSpPr>
        <p:spPr>
          <a:xfrm>
            <a:off x="5770483" y="4907875"/>
            <a:ext cx="564356" cy="564356"/>
          </a:xfrm>
          <a:prstGeom prst="roundRect">
            <a:avLst>
              <a:gd name="adj" fmla="val 162025"/>
            </a:avLst>
          </a:prstGeom>
          <a:solidFill>
            <a:srgbClr val="0A988B"/>
          </a:solidFill>
          <a:ln/>
        </p:spPr>
      </p:sp>
      <p:sp>
        <p:nvSpPr>
          <p:cNvPr id="27" name="Text 24"/>
          <p:cNvSpPr/>
          <p:nvPr/>
        </p:nvSpPr>
        <p:spPr>
          <a:xfrm>
            <a:off x="5939790" y="504896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4553545" y="5660350"/>
            <a:ext cx="2286595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Listo para Clínica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4553545" y="6084689"/>
            <a:ext cx="2998232" cy="80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Sistema validado y preparado para su implementación en el entorno clínico real de ISSUNNE.</a:t>
            </a:r>
            <a:endParaRPr lang="en-US" sz="14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243" y="2020848"/>
            <a:ext cx="4788932" cy="4788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104" y="659963"/>
            <a:ext cx="9322713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App de Escritorio – Desarrollo en Python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04" y="1450419"/>
            <a:ext cx="4397693" cy="43976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5345" y="1436013"/>
            <a:ext cx="3165991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Características Principales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525345" y="1809750"/>
            <a:ext cx="165973" cy="207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525345" y="2068949"/>
            <a:ext cx="628257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7525345" y="2197656"/>
            <a:ext cx="3026569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Entrada de Datos Clínicos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25345" y="2556986"/>
            <a:ext cx="628257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Interfaz intuitiva para ingresar edad, sexo, presión arterial, colesterol y estado de tabaquismo del paciente.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25345" y="3246120"/>
            <a:ext cx="165973" cy="207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25345" y="3505319"/>
            <a:ext cx="628257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7525345" y="3634026"/>
            <a:ext cx="2311360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Cálculo Automático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25345" y="3993356"/>
            <a:ext cx="628257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Procesamiento instantáneo del riesgo cardiovascular a 10 años según algoritmos SCORE2/SCORE2-OP.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25345" y="4682490"/>
            <a:ext cx="165973" cy="207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25345" y="4941689"/>
            <a:ext cx="628257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5" name="Text 12"/>
          <p:cNvSpPr/>
          <p:nvPr/>
        </p:nvSpPr>
        <p:spPr>
          <a:xfrm>
            <a:off x="7525345" y="5070396"/>
            <a:ext cx="2744629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Clasificación del Riesgo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25345" y="5429726"/>
            <a:ext cx="628257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Categorización automática en Bajo, Moderado, Alto o Muy Alto, según umbrales establecidos por las guías.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25345" y="6118860"/>
            <a:ext cx="165973" cy="207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25345" y="6378059"/>
            <a:ext cx="628257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9" name="Text 16"/>
          <p:cNvSpPr/>
          <p:nvPr/>
        </p:nvSpPr>
        <p:spPr>
          <a:xfrm>
            <a:off x="7525345" y="6506766"/>
            <a:ext cx="2721412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Funcionamiento Offline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25345" y="6866096"/>
            <a:ext cx="628257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Operación completamente independiente de internet, ideal para consultorios con conectividad limitada.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07244"/>
            <a:ext cx="1646158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313" y="936427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879038"/>
            <a:ext cx="107180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VALIDACIÓN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1352788"/>
            <a:ext cx="755832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Validación del Sistema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37724" y="2535436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95%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837724" y="3624382"/>
            <a:ext cx="411884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Coincidencia con HeartScore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7724" y="4471868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Precisión verificada mediante comparación exhaustiva con la herramienta oficial de la Sociedad Europea de Cardiología.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55776" y="2535436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40+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5858708" y="3624382"/>
            <a:ext cx="291286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Evaluados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55776" y="4119920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Validación realizada con más de 40 casos ficticios y reales, cubriendo todo el espectro de perfiles de riesgo.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673828" y="2535436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9835396" y="3624382"/>
            <a:ext cx="379559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Discrepancias Clínicas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73828" y="4119920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Ninguna discrepancia clínicamente significativa detectada en las pruebas de validación realizadas.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37724" y="6273165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sistema ha recibido aprobación médica preliminar del equipo de cardiología de ISSUNNE y se encuentra en fase de implementación piloto en la Unidad de Prevención Cardiovascular y Metabolismo. Los resultados iniciales muestran excelente aceptación por parte del personal médico y de enfermería, destacando la facilidad de uso y la confiabilidad de los cálculos.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Personalizado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Unbounded Light</vt:lpstr>
      <vt:lpstr>Calibri</vt:lpstr>
      <vt:lpstr>Arial</vt:lpstr>
      <vt:lpstr>Unbounded</vt:lpstr>
      <vt:lpstr>Cabin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Hernán</cp:lastModifiedBy>
  <cp:revision>2</cp:revision>
  <dcterms:created xsi:type="dcterms:W3CDTF">2026-01-29T13:24:13Z</dcterms:created>
  <dcterms:modified xsi:type="dcterms:W3CDTF">2026-01-29T13:28:57Z</dcterms:modified>
</cp:coreProperties>
</file>